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10년 전</c:v>
                </c:pt>
              </c:strCache>
            </c:strRef>
          </c:tx>
          <c:spPr>
            <a:solidFill>
              <a:srgbClr val="A9B6C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4365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출석교회 예배·설교</c:v>
                  </c:pt>
                  <c:pt idx="1">
                    <c:v>가족</c:v>
                  </c:pt>
                  <c:pt idx="2">
                    <c:v>미디어(유튜브 등)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9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현재</c:v>
                </c:pt>
              </c:strCache>
            </c:strRef>
          </c:tx>
          <c:spPr>
            <a:solidFill>
              <a:srgbClr val="1624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4365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출석교회 예배·설교</c:v>
                  </c:pt>
                  <c:pt idx="1">
                    <c:v>가족</c:v>
                  </c:pt>
                  <c:pt idx="2">
                    <c:v>미디어(유튜브 등)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</c:v>
                </c:pt>
                <c:pt idx="1">
                  <c:v>20</c:v>
                </c:pt>
                <c:pt idx="2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4365C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4365C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08A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4365C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자녀 주일예배 참석률</c:v>
                </c:pt>
              </c:strCache>
            </c:strRef>
          </c:tx>
          <c:spPr>
            <a:solidFill>
              <a:srgbClr val="C84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24365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4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7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부모 신앙 1단계</c:v>
                  </c:pt>
                  <c:pt idx="1">
                    <c:v>부모 신앙 4단계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800" u="none">
                  <a:solidFill>
                    <a:srgbClr val="24365C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4365C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08A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중고등부 학생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71"/>
              </a:solidFill>
              <a:effectLst/>
            </c:spPr>
          </c:dPt>
          <c:dPt>
            <c:idx val="1"/>
            <c:bubble3D val="0"/>
            <c:spPr>
              <a:solidFill>
                <a:srgbClr val="D6DCE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예수를 믿고 있다</c:v>
                </c:pt>
                <c:pt idx="1">
                  <c:v>믿는지 아닌지 긴가민가하다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4365C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응답 비율</c:v>
                </c:pt>
              </c:strCache>
            </c:strRef>
          </c:tx>
          <c:spPr>
            <a:solidFill>
              <a:srgbClr val="2E7D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4365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6C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4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40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현재 교회 계속 출석</c:v>
                  </c:pt>
                  <c:pt idx="1">
                    <c:v>다른 교회로 이동</c:v>
                  </c:pt>
                  <c:pt idx="2">
                    <c:v>교회는 안 나가도
신앙은 유지</c:v>
                  </c:pt>
                  <c:pt idx="3">
                    <c:v>다른 종교로</c:v>
                  </c:pt>
                  <c:pt idx="4">
                    <c:v>종교·신앙 모두 버림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</c:v>
                </c:pt>
                <c:pt idx="1">
                  <c:v>13</c:v>
                </c:pt>
                <c:pt idx="2">
                  <c:v>22</c:v>
                </c:pt>
                <c:pt idx="3">
                  <c:v>3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4365C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365C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08A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회의는 감(感)이 아니라 데이터로 시작합니다. 20분짜리 영상 하나에 우리 중고등부의 현실이 거의 다 들어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후렴구는 오늘 회의에서 세 번 반복됩니다. 이것 하나만 기억해도 오늘 회의는 성공입니다.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영상의 첫 장면입니다. 이 에피소드가 오늘 데이터 전체의 축소판입니다.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질문은 영상 댓글에서 실제로 제기된 것입니다. 우리 중고등부의 전도 전략과 직결됩니다.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중고등부가 쇼츠 한 편이라도 직접 만들어야 하는 이유가 이 그래프에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중고등부 학부모를 대상으로 한 “부모 신앙교육 1회”가 지금 가장 비용 대비 효과가 큰 사역일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후렴구 두 번째 등장. 여기서 잠시 멈추고 교사들에게 물어보십시오 — "우리는 지금까지 무엇 때문이라고 말해 왔습니까?"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지용근 대표의 마지막 제안: “부모님이 사역자나 교사들과 정기적으로 대화할 수 있는 시간을 좀 가졌으면 좋겠습니다. 반 선생님과, 그 반 부모들끼리 같이 대화를 하면 교회학교 교육을 현장감 있게 알 수도 있고, 부모님끼리 친해져 소그룹도 하고 삶도 나눌 수 있습니다.”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5669280" cy="566928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1D2E51"/>
          </a:solidFill>
          <a:ln w="12700">
            <a:solidFill>
              <a:srgbClr val="1D2E5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중고등부 교사 회의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아이들의 세계로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 읽는 우리 중고등부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14400" y="3977640"/>
            <a:ext cx="7040880" cy="868680"/>
          </a:xfrm>
          <a:prstGeom prst="roundRect">
            <a:avLst>
              <a:gd name="adj" fmla="val 10526"/>
            </a:avLst>
          </a:prstGeom>
          <a:solidFill>
            <a:srgbClr val="1D2E51"/>
          </a:solidFill>
          <a:ln w="12700">
            <a:solidFill>
              <a:srgbClr val="2C42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9776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D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“가르치는 자가 아이들의 세계로 쑥 들어가지 못했다”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2303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· 잘잘법 284회 「데이터가 알려주는 우리 아이의 신앙이 자라는 과정」  |  지용근 목회데이터연구소 대표  |  CBS, 2026.9.3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PROMISE · 오늘의 약속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회의가 끝나면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969264"/>
          </a:xfrm>
          <a:prstGeom prst="roundRect">
            <a:avLst>
              <a:gd name="adj" fmla="val 94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0116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아이들이 교회를 떠나는 진짜 이유를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0487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추측이 아니라 숫자로 알게 됩니다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044952"/>
            <a:ext cx="10789920" cy="969264"/>
          </a:xfrm>
          <a:prstGeom prst="roundRect">
            <a:avLst>
              <a:gd name="adj" fmla="val 94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319272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31821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교사인 내가 어디에 시간을 써야 하는지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57530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역할의 비율이 바뀝니다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215384"/>
            <a:ext cx="10789920" cy="969264"/>
          </a:xfrm>
          <a:prstGeom prst="roundRect">
            <a:avLst>
              <a:gd name="adj" fmla="val 94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489704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35254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학기에 당장 할 일 여섯 가지를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474573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날짜가 붙은 형태로 들고 갑니다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13889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4406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후렴구 ·  아이는 “예배가 지루해서”라 말하고, 우리는 “공부 때문에”라 말한다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PROLOGUE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전화를 받는 아이는 누구인가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943600" cy="3840480"/>
          </a:xfrm>
          <a:prstGeom prst="roundRect">
            <a:avLst>
              <a:gd name="adj" fmla="val 238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주일에 결석한 학생에게 주중 전화심방을 합니다.
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받지 않습니다. 목사님 전화니까요.
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받는 아이가 있습니다.
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아이는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“부목사님과 엄마가 친한”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아이입니다.
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이유는 하나 — “엄마한테 혼날까 봐.”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920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이미 답이 나옵니다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2450592"/>
            <a:ext cx="274320" cy="274320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52360" y="2395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아이에게 가는 길은 부모를 통한다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807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아이만 붙잡는 방식은 이미 절반짜리다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3566160"/>
            <a:ext cx="274320" cy="274320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351129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교회를 떠나고 싶은 아이도 못 떠난다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39227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결과 이유는 “엄마 때문에”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4681728"/>
            <a:ext cx="274320" cy="274320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46268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그러므로 전화심방의 준비는 통화가 아니다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50383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어머니와 먼저 친해지는 일이다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00:00~03:20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05840" y="2487168"/>
            <a:ext cx="566928" cy="566928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2432304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우리가 선 자리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33101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신앙의 무게중심이 강단에서 가정과 미디어로 옮겨 갔습니다.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10년의 데이터가 그 이동을 정확히 기록하고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가족종교화 시대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부모–자녀 종교 일치도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80%＋</a:t>
            </a:r>
            <a:endParaRPr lang="en-US" sz="8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03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부모가 기독교면 자녀도 기독교,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부모가 아니면 자녀도 아닌 시대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0" y="2084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중고등부에 이런 뜻입니다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542032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양친이 모두 비기독교인인 아이는 지금 교회학교에 거의 없습니다.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우리가 만나는 아이는 대부분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“부모의 신앙을 물려받은 아이”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그래서 아이만 붙잡는 사역은 원인이 아니라 결과를 붙잡는 일이 됩니다.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동시에 질문이 남습니다.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믿지 않는 가정의 아이는 어디로 갑니까?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00:30~01:35  ·  목회데이터연구소 「한국교회의 가족 종교화」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사이, 강단의 영향력은 절반으로 꺾였습니다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“신앙 성장에 가장 도움이 되는 것은 무엇입니까” — 한국 기독교인 응답 10년 추이 (%)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96596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96596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3816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법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6060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강단이 잃은 36%p를
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가족(＋11%p)과 미디어(＋18%p)가 나눠 가졌습니다.
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1%→19%는 곧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“지난 10년 사이 유튜브가 생겼다”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뜻입니다.
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아이들은 이미 영상으로 신앙을 배우고 있습니다. 문제는 그 영상을 우리가 만들지 않았다는 것입니다.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01:37~03:40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예배 만족도는 30년 동안 내려왔습니다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 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9B6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90%＋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출석교회 예배 만족도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520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출석교회 예배 만족도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1965960"/>
            <a:ext cx="4937760" cy="3794760"/>
          </a:xfrm>
          <a:prstGeom prst="roundRect">
            <a:avLst>
              <a:gd name="adj" fmla="val 2410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질문은 이것입니다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6974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중고등부 예배는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90%입니까,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65%입니까?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251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 숫자를 한 번도 재 본 적이 없습니다.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회의의 첫 번째 실행 과제가 여기서 나옵니다.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61772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“예배가 지루하다”는 말은 취향의 문제가 아니라 이탈의 1번 원인입니다.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02:01~02:25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아이의 신앙에 영향을 준 사람 — 아이들의 대답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출석 중고등학생 응답 순위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6949440" cy="658368"/>
          </a:xfrm>
          <a:prstGeom prst="roundRect">
            <a:avLst>
              <a:gd name="adj" fmla="val 13889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12264"/>
            <a:ext cx="420624" cy="420624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99339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어머니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99339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압도적 1위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779776"/>
            <a:ext cx="6949440" cy="658368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898648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77977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중고등부 목사님 · 전도사님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7797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교역자의 비중이 매우 크다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6949440" cy="658368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685032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566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선생님 (교사)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5661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우리입니다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52544"/>
            <a:ext cx="6949440" cy="658368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471416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3525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친구 · 선후배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435254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또래의 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138928"/>
            <a:ext cx="6949440" cy="658368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5257800"/>
            <a:ext cx="420624" cy="420624"/>
          </a:xfrm>
          <a:prstGeom prst="ellipse">
            <a:avLst/>
          </a:prstGeom>
          <a:solidFill>
            <a:srgbClr val="64708A"/>
          </a:solidFill>
          <a:ln w="12700">
            <a:solidFill>
              <a:srgbClr val="6470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257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1389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아버지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513892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“아버지는 별로 영향력이 없습니다”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0" y="1993392"/>
            <a:ext cx="3520440" cy="3712464"/>
          </a:xfrm>
          <a:prstGeom prst="roundRect">
            <a:avLst>
              <a:gd name="adj" fmla="val 2597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0" y="224942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교사에게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65176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1·3·4위가 모두 “사람”입니다.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아이를 붙잡는 것이 아니라 관계가 붙잡습니다.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1위가 어머니라는 사실은, 교사의 사역 대상에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부모가 포함된다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뜻입니다.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03:44~04:12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부모의 신앙이 자녀의 주일을 결정합니다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신앙 단계별 자녀의 주일예배 참석 비율 (%)   ·   1단계 = 교회는 다니나 구원의 확신 없음 / 4단계 = 하나님 중심으로 살려는 부모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01168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011680"/>
            <a:ext cx="3794760" cy="3566160"/>
          </a:xfrm>
          <a:prstGeom prst="roundRect">
            <a:avLst>
              <a:gd name="adj" fmla="val 256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55280" y="2240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7D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52%p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부모의 신앙 한 단계가 만들어 내는 차이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6576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아이의 신앙을 끌어올리려면 부모의 신앙을 끌어올려야 합니다.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부모를 세우는 일은 교회의 몫입니다.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04:13~05:05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부모는 방법을 배운 적이 없습니다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0848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24%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 신앙교육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훈련을 받아본 경험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56432" y="187452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56432" y="20848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56%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301752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 신앙교육의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구체적 방법을 모른다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87452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27064" y="20848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4%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6227064" y="301752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학부모 중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가정에서 실천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87452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E7F2EF"/>
          </a:solidFill>
          <a:ln w="12700">
            <a:solidFill>
              <a:srgbClr val="E7F2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97696" y="20848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7D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72%</a:t>
            </a:r>
            <a:endParaRPr lang="en-US" sz="50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301752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교회가 가르쳐 준다면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받고 싶다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370832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370832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실천율 4%는 절망적인 숫자지만, 의향률 72%는 아직 열려 있는 문입니다. 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부모의 의지가 아니라, 아무도 가르쳐 주지 않았다는 것입니다.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05:07~06:14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돌아온 조부모의 시대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720840" cy="822960"/>
          </a:xfrm>
          <a:prstGeom prst="roundRect">
            <a:avLst>
              <a:gd name="adj" fmla="val 1111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30·40대 맞벌이 비율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874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60%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전국은 50% 이상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6720840" cy="822960"/>
          </a:xfrm>
          <a:prstGeom prst="roundRect">
            <a:avLst>
              <a:gd name="adj" fmla="val 1111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영유아를 부모 외에 돌보는 주체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834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조부모 약 50%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전국보육실태조사(2021)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794760"/>
            <a:ext cx="6720840" cy="822960"/>
          </a:xfrm>
          <a:prstGeom prst="roundRect">
            <a:avLst>
              <a:gd name="adj" fmla="val 1111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794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손주 양육·교육에 관심 있는 교인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7947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69%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65세 이상은 약 80%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4754880"/>
            <a:ext cx="6720840" cy="822960"/>
          </a:xfrm>
          <a:prstGeom prst="roundRect">
            <a:avLst>
              <a:gd name="adj" fmla="val 1111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754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조부모 신앙교육이 필요하다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754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교인 65% / 담임목사 90%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54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18745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010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지용근 대표의 고백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25146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i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“손녀와 5년을 같이 살면서 매일 밤 9시에 기도해 줬습니다. 그런데 기도하는 것 말고는 할 줄 아는 게 없었어요.</a:t>
            </a: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50" i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교회에서 배운 적이 없으니까요.”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06:16~08:32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· 진단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가정예배가 “잔소리 시간”이 되지 않으려면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BE9E6"/>
          </a:solidFill>
          <a:ln w="12700">
            <a:solidFill>
              <a:srgbClr val="FBE9E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가정예배를 드리는 집 아이들이 가정예배를 싫어합니다.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이유는 하나 — 그 시간이 잔소리 시간이기 때문입니다.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87452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· 교회 소그룹 방식을 가정으로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06240" y="2331720"/>
            <a:ext cx="7269480" cy="731520"/>
          </a:xfrm>
          <a:prstGeom prst="roundRect">
            <a:avLst>
              <a:gd name="adj" fmla="val 12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2487168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4048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부모가 먼저 자기 고민을 말한다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가르치는 자리에서 내려오는 첫걸음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3200400"/>
            <a:ext cx="7269480" cy="731520"/>
          </a:xfrm>
          <a:prstGeom prst="roundRect">
            <a:avLst>
              <a:gd name="adj" fmla="val 12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3355848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2735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자녀도 자기 고민을 말한다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수평적 관계에서만 열리는 이야기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4069080"/>
            <a:ext cx="7269480" cy="731520"/>
          </a:xfrm>
          <a:prstGeom prst="roundRect">
            <a:avLst>
              <a:gd name="adj" fmla="val 12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4224528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41422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말씀을 본다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해석을 강요하지 않고 같이 읽는다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06240" y="4937760"/>
            <a:ext cx="7269480" cy="731520"/>
          </a:xfrm>
          <a:prstGeom prst="roundRect">
            <a:avLst>
              <a:gd name="adj" fmla="val 12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5093208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50109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기도한다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아이를 위한 기도가 아니라 함께 드리는 기도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1605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교사의 역할 : 학부모에게 이 네 단계를 카드 한 장으로 건네는 것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08:34~09:30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05840" y="2487168"/>
            <a:ext cx="566928" cy="566928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2432304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아이를 붙잡는가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33101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만족과 불만족, 기대와 결단 — 아이들이 직접 말한 답입니다.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아니라 사람과 경험이 아이를 남게 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· 열쇠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아이들이 말한 만족 이유와 불만족 이유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E7F2EF"/>
          </a:solidFill>
          <a:ln w="12700">
            <a:solidFill>
              <a:srgbClr val="E7F2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만족하는 이유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81912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목사님 · 전도사님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BE9E6"/>
          </a:solidFill>
          <a:ln w="12700">
            <a:solidFill>
              <a:srgbClr val="FBE9E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09160" y="2103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불만족하는 이유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예배 (설교)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383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목사님 · 전도사님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275320" y="1874520"/>
            <a:ext cx="3200400" cy="3977640"/>
          </a:xfrm>
          <a:prstGeom prst="roundRect">
            <a:avLst>
              <a:gd name="adj" fmla="val 2857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49640" y="2121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양날의 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542032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교역자가 만족·불만족 양쪽 2위입니다.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여론조사에서 지지·비지지 이유가 똑같이 “경제”로 나오는 것과 같은 구조 — 그만큼 결정적 변수라는 뜻입니다.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교회학교는 사역자 한 사람으로 확 부흥하기도, 확 무너지기도 합니다.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54880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“교회학교 안에 신앙적인 친구가 있다면, 그 아이는 절대로 교회를 떠나지 않습니다.”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09:32~11:40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열쇠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출석은 신앙이 아닙니다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828800"/>
          <a:ext cx="4846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828800"/>
            <a:ext cx="5532120" cy="3840480"/>
          </a:xfrm>
          <a:prstGeom prst="roundRect">
            <a:avLst>
              <a:gd name="adj" fmla="val 238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21031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800" b="1" i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교회 다니는 아이들 중에 예수 믿는 아이들이 얼마나 될까요?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800" b="1" i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 정도밖에 안 됩니다.”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34747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명단에서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“긴가민가한 절반”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누구입니까?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댈 수 있다면 사역이 시작되고, 못 댄다면 우리는 아직 출석부만 관리하고 있는 것입니다.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오늘 회의 후 과제 : 반별로 이 명단을 작성합니다.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10:17~10:40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· 열쇠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아이들이 예배에서 기대하는 두 가지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685800" cy="685800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22128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0896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친구 중 절반은 “이너서클” 안에, 절반은 밖에 있습니다.</a:t>
            </a: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전략의 핵심은 밖에 있는 절반을 안으로 들이는 문화와 토양을 만드는 것입니다.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92040" y="187452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2194560"/>
            <a:ext cx="685800" cy="685800"/>
          </a:xfrm>
          <a:prstGeom prst="ellipse">
            <a:avLst/>
          </a:prstGeom>
          <a:solidFill>
            <a:srgbClr val="2E7D71"/>
          </a:solidFill>
          <a:ln w="12700">
            <a:solidFill>
              <a:srgbClr val="2E7D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62472" y="22128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찬양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10896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찬양을 통해 신앙적으로 결단한 학생이 약 절반입니다.</a:t>
            </a: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찬양은 분위기가 아니라 아이들이 실제로 결단하는 접점입니다. 곡 선정에 학생 의견을 넣으십시오.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98280" y="1874520"/>
            <a:ext cx="2377440" cy="3840480"/>
          </a:xfrm>
          <a:prstGeom prst="roundRect">
            <a:avLst>
              <a:gd name="adj" fmla="val 3846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7260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역전되어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3703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과거에는 학교 친구보다 교회 친구가 더 많았습니다.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자기 삶을 내놓을 수 있는 친구가 교회보다 학교에 훨씬 많습니다.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역전을 다시 역전시켜야 합니다.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11:40~12:25, 14:10~14:48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· 열쇠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신앙 성장을 가장 촉진하는 경험은 수련회였습니다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577840" cy="2148840"/>
          </a:xfrm>
          <a:prstGeom prst="roundRect">
            <a:avLst>
              <a:gd name="adj" fmla="val 4255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84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여름수련회 · 겨울수련회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학생들에게 직접 물은 결과입니다. 지용근 대표 자신도 여름수련회에서 예수를 만났습니다.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4206240"/>
            <a:ext cx="5577840" cy="1508760"/>
          </a:xfrm>
          <a:prstGeom prst="roundRect">
            <a:avLst>
              <a:gd name="adj" fmla="val 60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4407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· 수련회는 여름에 준비하는 행사가 아닙니다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731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연초부터 교사와 부모를 통해 참석을 설득하는 작업을 한 해 사역으로 배치합니다.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예수님을 모르는 아이일수록 반드시 보내야 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874520"/>
            <a:ext cx="4892040" cy="3840480"/>
          </a:xfrm>
          <a:prstGeom prst="roundRect">
            <a:avLst>
              <a:gd name="adj" fmla="val 2381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03720" y="21214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번만 가자”의 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542032"/>
            <a:ext cx="4251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교회 가는 시간을 아까워했습니다. “그 시간에 학원 가야지.”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 한 번 강요했습니다.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“수련회 한 번만 가자.”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거기서 친구를 사귀었습니다. 그 뒤로 180도 달라져서, 시키지도 않은 송구영신예배까지 스스로 갔습니다.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계기는 카톡 한 줄이었습니다.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“○○아, 너 오늘 송구영신 올 거야? 와야 돼.”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13:34~14:08, 18:12~19:05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· 열쇠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“문학의 밤”은 왜 사라졌을까요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i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어릴 때는 문학의 밤을 했습니다. 그때 교사·전도사님은 별로 관여하지 않으셨어요. 우리끼리 콘텐츠를 만들고 포스터를 만들어 동네 벽에 붙였습니다.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00" i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지금 교회학교는 오로지 목사님·전도사님·교사가 다 주도합니다.”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8745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“학생이 기도·말씀·예배 순서를 직접 담당하는 것에 찬성합니까”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2450592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0" y="24505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본인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24505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62%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583680" y="3364992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0" y="33649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사역자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33649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E7D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583680" y="4315968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0" y="4526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주도성을 돌려주자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91947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학생도 사역자도 이미 찬성하고 있습니다. 막고 있는 것은 “잘 못할까 봐”라는 우리의 걱정뿐입니다.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3434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· 예배 순서 중 최소 하나를 이번 달부터 학생에게 넘깁니다 — 대표기도 / 찬양인도 / 광고 / 간증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12:25~13:32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· 열쇠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중 1명 이상이 교회를 떠나겠다고 예고했습니다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“앞으로 신앙생활을 어떻게 할 것 같습니까” — 현재 교회 출석 중고등학생 응답 (%)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011680"/>
          <a:ext cx="7223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2011680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03920" y="221284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37%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310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 이탈 예상 합계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730752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“교회는 안 나가도 신앙은 유지”라는 22%가 가장 큰 덩어리입니다.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아이들은 신앙을 버린 것이 아니라 교회를 버린 것입니다.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그렇다면 원인은 신앙이 아니라 교회 쪽에 있습니다.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14:48~15:30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05840" y="2487168"/>
            <a:ext cx="566928" cy="566928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2432304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결정적 간극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33101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질문을 아이에게, 교사에게, 사역자에게 각각 물었습니다.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대답이 달랐습니다. 오늘 회의의 핵심은 이 한 장입니다.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· 핵심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 교회를 떠났습니까” — 세 집단의 다른 대답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56432" cy="2606040"/>
          </a:xfrm>
          <a:prstGeom prst="roundRect">
            <a:avLst>
              <a:gd name="adj" fmla="val 3509"/>
            </a:avLst>
          </a:prstGeom>
          <a:solidFill>
            <a:srgbClr val="FBE9E6"/>
          </a:solidFill>
          <a:ln w="12700">
            <a:solidFill>
              <a:srgbClr val="FBE9E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41832" y="205740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학생 본인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395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1위로 꼽은 이탈 이유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74320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예배·설교가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지루하고 의미가 없다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456432" cy="2606040"/>
          </a:xfrm>
          <a:prstGeom prst="roundRect">
            <a:avLst>
              <a:gd name="adj" fmla="val 350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26864" y="205740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395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1위로 꼽은 이탈 이유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74320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 부담 ·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심리적 여유 부족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55864" y="1828800"/>
            <a:ext cx="3456432" cy="2606040"/>
          </a:xfrm>
          <a:prstGeom prst="roundRect">
            <a:avLst>
              <a:gd name="adj" fmla="val 350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11896" y="205740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사역자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11896" y="23957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1위로 꼽은 이탈 이유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274320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 부담 ·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심리적 여유 부족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663440"/>
            <a:ext cx="10149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아이는 “예배가 지루해서”라 말하고, 우리는 “공부 때문에”라 말합니다.  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전제가 틀리면 처방도 틀립니다.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15:30~16:28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지용근 목회데이터연구소 대표의 결론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783080"/>
            <a:ext cx="9601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“가르치는 자가</a:t>
            </a:r>
            <a:endParaRPr lang="en-US" sz="4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아이들의 세계로</a:t>
            </a:r>
            <a:endParaRPr lang="en-US" sz="4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쑥 들어가지 못했다.”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45262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“그래서 앞으로 교회학교, 주일학교 같은 경우는 사역자·교사들이 아이들 세계로 더 들어가야 됩니다.”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580644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C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16:28~16:42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05840" y="2487168"/>
            <a:ext cx="566928" cy="566928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2432304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33101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교사의 역할이 바뀝니다. 100% 아이가 아니라 50% 아이 + 50% 부모입니다.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학기에 할 여섯 가지를 정하고 회의를 마칩니다.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· 전환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역할의 재배분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D6DCE6"/>
          </a:solidFill>
          <a:ln w="12700">
            <a:solidFill>
              <a:srgbClr val="D6DCE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아이에게 100%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319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 50%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246120" y="39319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4612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50%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교사는 아이와 부모 사이의 매개자가 됩니다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187452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2121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매개자로서 교사가 하는 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55080" y="2688336"/>
            <a:ext cx="237744" cy="23774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48272" y="2606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부모에게 아이의 신앙 수준을 알려 준다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3291840"/>
            <a:ext cx="237744" cy="23774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48272" y="32095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부모에게 아이의 교회 안 모습을 전해 준다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3895344"/>
            <a:ext cx="237744" cy="23774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38130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부모가 자극받아 스스로 움직이게 만든다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55080" y="4498848"/>
            <a:ext cx="237744" cy="23774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8272" y="441655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반 학부모끼리 연결해 소그룹이 되게 한다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5102352"/>
            <a:ext cx="237744" cy="23774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48272" y="502005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가정예배 네 단계 카드를 건넨다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16:42~17:35, 19:14~19:55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· 실행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 실행 여섯 가지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21992"/>
            <a:ext cx="420624" cy="420624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391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아이들에게 직접 묻는다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5059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익명 설문 10문항 — “예배에서 가장 지루한 순간은?”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221992"/>
            <a:ext cx="420624" cy="420624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391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소외된 절반을 지명한다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5059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반별로 이너서클 밖 아이를 실명으로 파악하고 짝을 붙인다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72968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3520440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3375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주도권을 한 칸 넘긴다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74904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대표기도 · 찬양인도 · 광고 · 간증 중 최소 하나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72968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520440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3375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찬양에 투자한다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74904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아이들이 결단하는 지점. 곡 선정에 학생 의견 반영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471416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1832" y="4818888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1832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63600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시간의 절반을 부모에게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04748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반 학부모와 학기 1회 이상 통화 또는 만남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471416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4818888"/>
            <a:ext cx="420624" cy="420624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9672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63600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수련회를 연초부터 준비한다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04748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신앙 성장 촉진 1위. “한 번만 가자”의 힘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오늘 회의에서 각 항목의 담당자와 시행 주(週)를 적어 넣습니다.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· 토의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조별 나눔 질문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20240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예배에서 아이들이 지루해하는 구간은 정확히 어디인가? 우리는 물어본 적이 있는가?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61488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7614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76148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반의 “긴가민가한 절반”은 누구인가? 이름을 댈 수 있는가?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02736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60273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02736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학기에 내가 학부모와 실제로 대화한 횟수는 몇 번인가?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43984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44398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443984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학생에게 넘길 수 있는 순서는 무엇이고, 못 넘기는 진짜 이유는 무엇인가?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85232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528523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285232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아이들 앞에서 내 실패담을 마지막으로 말한 게 언제인가?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나눔 20분 → 조별 발표 1분씩 → 실행 여섯 가지에 담당자 기입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아이들의 세계에 들어간 설교란 무엇인가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있어야 합니다. 하나라도 빠지면 강의·상담·잔소리가 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240280"/>
            <a:ext cx="566928" cy="566928"/>
          </a:xfrm>
          <a:prstGeom prst="ellipse">
            <a:avLst/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92608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본문의 진실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31927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주해가 살아 있는가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370332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들어감은 주해를 건너뛰는 면허가 아닙니다. 원어·배경·문맥을 먼저 끝냅니다.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196596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2240280"/>
            <a:ext cx="566928" cy="566928"/>
          </a:xfrm>
          <a:prstGeom prst="ellipse">
            <a:avLst/>
          </a:prstGeom>
          <a:solidFill>
            <a:srgbClr val="E39237"/>
          </a:solidFill>
          <a:ln w="12700">
            <a:solidFill>
              <a:srgbClr val="E392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92608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아이의 실제 질문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31927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 아이의 한 주를 아는가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370332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유행어를 외우는 것은 들어감이 아닙니다. 한 아이의 시험 일정을 아는 것이 들어감입니다.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5864" y="196596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2240280"/>
            <a:ext cx="566928" cy="566928"/>
          </a:xfrm>
          <a:prstGeom prst="ellipse">
            <a:avLst/>
          </a:prstGeom>
          <a:solidFill>
            <a:srgbClr val="2E7D71"/>
          </a:solidFill>
          <a:ln w="12700">
            <a:solidFill>
              <a:srgbClr val="2E7D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1189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292608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수 있는 형태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11896" y="331927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월요일에 들고 갈 것이 있는가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370332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감동으로 끝내지 않습니다. 작고 구체적이고 오늘 할 수 있는 것 하나를 건넵니다.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956048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05840" y="4956048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“들어간 설교”의 반대말은 어려운 설교가 아니라, 아이의 세계를 모르는 설교입니다.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B · 성경적 근거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“들어가는 것”이 복음의 방식인가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7589520" cy="1024128"/>
          </a:xfrm>
          <a:prstGeom prst="roundRect">
            <a:avLst>
              <a:gd name="adj" fmla="val 892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1:14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ἐσκήνωσεν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9842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에스케노센 · σκηνόω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2768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가운데 장막을 치셨다.” 어근 σκηνή는 출애굽기의 성막. 방문(visit)이 아니라 거주(dwell)입니다.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063240"/>
            <a:ext cx="7589520" cy="1024128"/>
          </a:xfrm>
          <a:prstGeom prst="roundRect">
            <a:avLst>
              <a:gd name="adj" fmla="val 892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 2:7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ἐκένωσεν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에케노센 · κενόω (케노시스)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4655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“자기를 비워.” 비우신 것은 신성이 아니라 높은 자리에서 내려다보며 말할 권리였습니다.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251960"/>
            <a:ext cx="7589520" cy="1024128"/>
          </a:xfrm>
          <a:prstGeom prst="roundRect">
            <a:avLst>
              <a:gd name="adj" fmla="val 892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고전 9:22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γέγονα πάντα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4361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게고나 판타 · 완료형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6542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“여러 사람에게 여러 모습이 된 것은.” 바울은 복음을 바꾸지 않았습니다. 자기 자신을 바꿨습니다.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95360" y="1874520"/>
            <a:ext cx="2880360" cy="3566160"/>
          </a:xfrm>
          <a:prstGeom prst="roundRect">
            <a:avLst>
              <a:gd name="adj" fmla="val 3175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86968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교부와 개혁자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487168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크리소스톰
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συγκατάβασις (신카타바시스) — 하나님의 “함께 내려오심”. 하나님은 듣는 자의 높이에서 말씀하십니다.
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칼뱅
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6D0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accommodatio — “하나님은 우리에게 혀 짧은 소리로 옹알이하듯 말씀하신다.”(『기독교 강요』 I.13.1)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예수의 방식 ·  막 10:16 ἐναγκαλισάμενος “품에 안으시고”   |   눅 24:15 συνεπορεύετο “함께 걸으시며” 먼저 질문하심   |   요 4:7 “물을 좀 달라” — 필요를 가진 자로 먼저 서심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공부할 자료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420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『십대의 마음을 꿰뚫는 설교』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98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덕 필즈 · 더피 로빈스 | 국제제자훈련원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주제의 정본. 로고스·에토스·파토스로 분해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4670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『청소년 사역 핵심파일』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정석원 | 홍성사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청소년을 “미래”가 아닌 현재의 소청년으로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513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『어쩌다 청소년 사역』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407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김성중 | 두란노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청소년부 운영 실무 노하우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956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『365일 심방하는 목사』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212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이세종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고등부 5년, 출석 70명 → 110~120명의 기록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87452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6243F"/>
          </a:solidFill>
          <a:ln w="12700">
            <a:solidFill>
              <a:srgbClr val="16243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5AE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4871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284회 — 오늘의 원자료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9077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youtu.be/SgWydfzNVpo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14553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242회 — 수련회 못 가는 청소년을 위한 온라인 수련회 (강은도 목사)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566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youtu.be/-SDDRonuP_A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80390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잘잘클립 — 수련회 왔는데 목사님이 2시간 기도시켜요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224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youtu.be/DGSwlS9BB-k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4622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잘잘법 283회 — 대화법을 배운 적 없는 우리는 (박재연 소장)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882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youtu.be/NB71LgUMqWQ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1206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번개탄TV — 다음세대 전문 방송국 (임우현 목사)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55412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youtube.com/@next_christiantv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291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정리본 : 다음세대/아이들의_세계에_들어간_설교_자료집.md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5120640" cy="5120640"/>
          </a:xfrm>
          <a:prstGeom prst="ellipse">
            <a:avLst/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강단 위에서 내려다보며 외치는 말은 방문이고,</a:t>
            </a:r>
            <a:endParaRPr lang="en-US" sz="2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아이의 자리까지 내려가 함께 앉아 하는 말은 거주입니다.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977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9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말씀은 우리 가운데 방문하지 않으시고,  장막을 치셨습니다.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892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D9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그러므로 아이들의 세계로 들어가는 것은 사역의 기술이 아니라, 복음이 우리에게 온 방식 그 자체입니다.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아이들의 세계로</dc:title>
  <dc:subject>PptxGenJS Presentation</dc:subject>
  <dc:creator>중고등부</dc:creator>
  <cp:lastModifiedBy>중고등부</cp:lastModifiedBy>
  <cp:revision>1</cp:revision>
  <dcterms:created xsi:type="dcterms:W3CDTF">2026-09-17T12:24:27Z</dcterms:created>
  <dcterms:modified xsi:type="dcterms:W3CDTF">2026-09-17T12:24:27Z</dcterms:modified>
</cp:coreProperties>
</file>